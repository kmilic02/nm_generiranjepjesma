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26" r:id="rId1"/>
  </p:sldMasterIdLst>
  <p:notesMasterIdLst>
    <p:notesMasterId r:id="rId21"/>
  </p:notesMasterIdLst>
  <p:sldIdLst>
    <p:sldId id="256" r:id="rId2"/>
    <p:sldId id="275" r:id="rId3"/>
    <p:sldId id="257" r:id="rId4"/>
    <p:sldId id="26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  <p:sldId id="269" r:id="rId15"/>
    <p:sldId id="270" r:id="rId16"/>
    <p:sldId id="272" r:id="rId17"/>
    <p:sldId id="273" r:id="rId18"/>
    <p:sldId id="274" r:id="rId19"/>
    <p:sldId id="276" r:id="rId20"/>
  </p:sldIdLst>
  <p:sldSz cx="14630400" cy="8229600"/>
  <p:notesSz cx="8229600" cy="14630400"/>
  <p:embeddedFontLst>
    <p:embeddedFont>
      <p:font typeface="Arimo" panose="020B0604020202020204" charset="0"/>
      <p:regular r:id="rId22"/>
    </p:embeddedFont>
    <p:embeddedFont>
      <p:font typeface="Outfit Extra Bold" panose="020B0604020202020204" charset="0"/>
      <p:regular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20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7816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9AB76-1010-14B8-516D-89E57DC37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6BC61-15B3-CD09-AD57-A59457BA9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5E7F1D-0F87-AF29-F7F4-BC7FA581E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90528-93FF-F906-C597-BD1437CDF9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92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0BD60-9BFF-A577-0A1B-2E6257333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80033C-51B9-1F13-4AF4-C16AE5EB0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DD16E-A7DA-4F6C-CDFA-B6370175B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D17D2-CA42-EC2B-1EFE-89827F38A0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08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76182-9239-DF28-AD20-F8303B3CC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9AF56-4792-810C-35D7-EDBB057B2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37098-7C91-56A7-65BD-778718EF6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B3AEE-9D20-3F0C-EB8B-9BFE091DB2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356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804AF-5F2A-043B-E859-F28250AFF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B7511C-95DD-074B-2485-F377715C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A76B51-6130-2C0C-488C-E34D79A48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6AEA5-9A61-27D8-D1C5-7239C11881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246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78787-23FF-65CA-D955-19110EEFA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A9591-2B4F-1E1D-820A-F490D1E2A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188D0-75ED-4A0D-BE45-FF1D01AC5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E2830-6422-7D29-C776-1A4294D083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224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F9696-0F79-84C1-2A8E-A8A81AD54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D7506F-94EB-CB02-9862-D71437A9A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7FEEA-C144-B04B-97F0-EB6B225A3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D73DE-2ACA-2446-AEF2-C5392C259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183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2B65E-386C-3C0C-BBCB-5EEB4C400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6DC7D6-DB75-0A9C-D4B4-2766C8B08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5FF762-2F26-C55B-CA98-4482E7ADE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D7D4B-A38C-8235-2968-266B5D5C2B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153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4BA42-5700-8882-A55B-7261A1B74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FE06F-0DA1-B468-F6A5-ED6E363BD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36BDF-E20E-ECA2-4D62-85C483A61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59EC9-A9C0-AC60-901B-F7DF975893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91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67211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3420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56374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344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4703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72185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97596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1815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95614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36168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556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5959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061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9741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44261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8975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98485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774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8754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2663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467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38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852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Generating Coherent Song Lyrics with RNNs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3F662-9AB3-3A6A-DC69-F84BF98D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07A1C9-E1E0-ABDB-DFBC-DC7CA567CC5B}"/>
              </a:ext>
            </a:extLst>
          </p:cNvPr>
          <p:cNvSpPr/>
          <p:nvPr/>
        </p:nvSpPr>
        <p:spPr>
          <a:xfrm>
            <a:off x="793790" y="157829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hr-HR" sz="4400" b="1" dirty="0">
                <a:solidFill>
                  <a:srgbClr val="231971"/>
                </a:solidFill>
                <a:latin typeface="Outfit Extra Bold" pitchFamily="34" charset="0"/>
              </a:rPr>
              <a:t>Summary</a:t>
            </a:r>
            <a:endParaRPr lang="en-US" sz="440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301C7E01-22B2-37AC-6F52-E8913D3EB318}"/>
              </a:ext>
            </a:extLst>
          </p:cNvPr>
          <p:cNvSpPr/>
          <p:nvPr/>
        </p:nvSpPr>
        <p:spPr>
          <a:xfrm>
            <a:off x="793790" y="2456094"/>
            <a:ext cx="9665302" cy="4448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Problem and Motivation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Dataset and Preprocessing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Model Architectures (LSTM &amp; GRU)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Training Procedure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Hyperparameter Analysis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Experimental Results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Text Generation Examples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sz="2400" dirty="0"/>
              <a:t>Discussion and Conclusions</a:t>
            </a:r>
          </a:p>
        </p:txBody>
      </p:sp>
    </p:spTree>
    <p:extLst>
      <p:ext uri="{BB962C8B-B14F-4D97-AF65-F5344CB8AC3E}">
        <p14:creationId xmlns:p14="http://schemas.microsoft.com/office/powerpoint/2010/main" val="55372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829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Motivation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93790" y="2598896"/>
            <a:ext cx="4196358" cy="1931908"/>
          </a:xfrm>
          <a:prstGeom prst="roundRect">
            <a:avLst>
              <a:gd name="adj" fmla="val 7573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4" name="Shape 2"/>
          <p:cNvSpPr/>
          <p:nvPr/>
        </p:nvSpPr>
        <p:spPr>
          <a:xfrm>
            <a:off x="763310" y="2598896"/>
            <a:ext cx="121920" cy="1931908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5" name="Text 3"/>
          <p:cNvSpPr/>
          <p:nvPr/>
        </p:nvSpPr>
        <p:spPr>
          <a:xfrm>
            <a:off x="1142524" y="2856190"/>
            <a:ext cx="359033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Traditional n-gram language models have limited context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216962" y="2598896"/>
            <a:ext cx="4196358" cy="1931908"/>
          </a:xfrm>
          <a:prstGeom prst="roundRect">
            <a:avLst>
              <a:gd name="adj" fmla="val 7573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7" name="Shape 5"/>
          <p:cNvSpPr/>
          <p:nvPr/>
        </p:nvSpPr>
        <p:spPr>
          <a:xfrm>
            <a:off x="5186482" y="2598896"/>
            <a:ext cx="121920" cy="1931908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8" name="Text 6"/>
          <p:cNvSpPr/>
          <p:nvPr/>
        </p:nvSpPr>
        <p:spPr>
          <a:xfrm>
            <a:off x="5565696" y="2856190"/>
            <a:ext cx="359033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Recurrent Neural Networks (RNNs) can model sequences of arbitrary length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640133" y="2598896"/>
            <a:ext cx="4196358" cy="1931908"/>
          </a:xfrm>
          <a:prstGeom prst="roundRect">
            <a:avLst>
              <a:gd name="adj" fmla="val 7573"/>
            </a:avLst>
          </a:prstGeom>
          <a:solidFill>
            <a:srgbClr val="FAFAFA">
              <a:alpha val="95000"/>
            </a:srgbClr>
          </a:solidFill>
          <a:ln w="3048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0" name="Shape 8"/>
          <p:cNvSpPr/>
          <p:nvPr/>
        </p:nvSpPr>
        <p:spPr>
          <a:xfrm>
            <a:off x="9609653" y="2598896"/>
            <a:ext cx="121920" cy="1931908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1" name="Text 9"/>
          <p:cNvSpPr/>
          <p:nvPr/>
        </p:nvSpPr>
        <p:spPr>
          <a:xfrm>
            <a:off x="9988868" y="2856190"/>
            <a:ext cx="359033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Modern gated RNNs (LSTM, GRU) mitigate vanishing gradient problems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93790" y="4984431"/>
            <a:ext cx="13042821" cy="2467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Application combines: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machine learning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</a:t>
            </a:r>
            <a:r>
              <a:rPr lang="en-US" sz="2400" dirty="0" err="1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reativity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natural language modeling</a:t>
            </a: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 marL="0" indent="0" algn="l">
              <a:lnSpc>
                <a:spcPct val="150000"/>
              </a:lnSpc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8DF82-0347-B44D-6B5F-58EFE72FD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73C489A-50CE-6FD5-5728-E0521804564C}"/>
              </a:ext>
            </a:extLst>
          </p:cNvPr>
          <p:cNvSpPr/>
          <p:nvPr/>
        </p:nvSpPr>
        <p:spPr>
          <a:xfrm>
            <a:off x="793790" y="157829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hr-HR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Challenges</a:t>
            </a:r>
            <a:endParaRPr lang="en-US" sz="440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6912F91F-D1BD-56C9-6D52-51172236E3BB}"/>
              </a:ext>
            </a:extLst>
          </p:cNvPr>
          <p:cNvSpPr/>
          <p:nvPr/>
        </p:nvSpPr>
        <p:spPr>
          <a:xfrm>
            <a:off x="793790" y="2456094"/>
            <a:ext cx="8987208" cy="4694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Automatic text generation is a core task in Natural Language Processing</a:t>
            </a:r>
            <a:endParaRPr lang="hr-HR" sz="2400" dirty="0">
              <a:solidFill>
                <a:srgbClr val="1E1E1A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Song lyrics generation is especially challenging due to: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poetic structure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repetitions and rhythm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long-term dependencies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Goal: learn statistical language patterns and generate coherent song lyrics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8995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7272"/>
            <a:ext cx="5278237" cy="9131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450"/>
              </a:lnSpc>
              <a:buNone/>
            </a:pPr>
            <a:r>
              <a:rPr lang="hr-HR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</a:t>
            </a:r>
            <a:r>
              <a:rPr lang="en-US" sz="4400" b="1" dirty="0" err="1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ataset</a:t>
            </a:r>
            <a:r>
              <a:rPr lang="en-US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3789" y="1520351"/>
            <a:ext cx="1304282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Dataset: </a:t>
            </a:r>
            <a:r>
              <a:rPr lang="en-US" sz="2400" i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Genius Song Lyrics with Language Information</a:t>
            </a: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(Kaggle)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93790" y="2184860"/>
            <a:ext cx="13042821" cy="5489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Contains song lyrics with metadata: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language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year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genre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We filtered the dataset to: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</a:t>
            </a:r>
            <a:r>
              <a:rPr lang="en-US" sz="2400" dirty="0" err="1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nglish</a:t>
            </a: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language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</a:t>
            </a: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 genre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</a:t>
            </a: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ears 2000–2010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Final dataset size: </a:t>
            </a: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10,000 songs</a:t>
            </a:r>
            <a:endParaRPr lang="en-US" sz="2400" dirty="0"/>
          </a:p>
          <a:p>
            <a:pPr>
              <a:lnSpc>
                <a:spcPts val="2850"/>
              </a:lnSpc>
            </a:pPr>
            <a:endParaRPr lang="en-US" sz="1750" dirty="0"/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750" dirty="0"/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750" dirty="0"/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750" dirty="0"/>
          </a:p>
          <a:p>
            <a:pPr algn="l">
              <a:lnSpc>
                <a:spcPts val="2850"/>
              </a:lnSpc>
            </a:pP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4144"/>
            <a:ext cx="642449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Preprocessing (Cleaning)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299960" y="1794748"/>
            <a:ext cx="30480" cy="3982402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4" name="Shape 2"/>
          <p:cNvSpPr/>
          <p:nvPr/>
        </p:nvSpPr>
        <p:spPr>
          <a:xfrm>
            <a:off x="763310" y="1794748"/>
            <a:ext cx="6521410" cy="2027239"/>
          </a:xfrm>
          <a:prstGeom prst="roundRect">
            <a:avLst>
              <a:gd name="adj" fmla="val 539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" name="Text 3"/>
          <p:cNvSpPr/>
          <p:nvPr/>
        </p:nvSpPr>
        <p:spPr>
          <a:xfrm>
            <a:off x="997745" y="2029182"/>
            <a:ext cx="606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Removal of: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97744" y="2519601"/>
            <a:ext cx="60601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annotations (e.g. [Chorus], (Verse))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97744" y="2961799"/>
            <a:ext cx="60601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special characters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45680" y="3821987"/>
            <a:ext cx="6521410" cy="1955163"/>
          </a:xfrm>
          <a:prstGeom prst="rect">
            <a:avLst/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9" name="Text 7"/>
          <p:cNvSpPr/>
          <p:nvPr/>
        </p:nvSpPr>
        <p:spPr>
          <a:xfrm>
            <a:off x="7572494" y="42471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Text normalization: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572494" y="4737616"/>
            <a:ext cx="60601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lowercase conversion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572494" y="5179814"/>
            <a:ext cx="60601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whitespace normalization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96872" y="5913238"/>
            <a:ext cx="13042821" cy="1764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Structural information preserved using special tokens: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&lt;line&gt; for line breaks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&lt;stanza&gt; for verse breaks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8887"/>
            <a:ext cx="467713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Tokenization Strategy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3790" y="2589490"/>
            <a:ext cx="13042821" cy="4551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Word-level tokenization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Each song represented as a sequence: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800100" lvl="1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&lt;</a:t>
            </a:r>
            <a:r>
              <a:rPr lang="en-US" sz="2400" dirty="0" err="1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sos</a:t>
            </a: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&gt; … words … &lt;</a:t>
            </a:r>
            <a:r>
              <a:rPr lang="en-US" sz="2400" dirty="0" err="1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eos</a:t>
            </a: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&gt;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Special tokens used: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800100" lvl="1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&lt;pad&gt;, &lt;</a:t>
            </a:r>
            <a:r>
              <a:rPr lang="en-US" sz="2400" dirty="0" err="1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unk</a:t>
            </a: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&gt;, &lt;</a:t>
            </a:r>
            <a:r>
              <a:rPr lang="en-US" sz="2400" dirty="0" err="1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sos</a:t>
            </a: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&gt;, &lt;</a:t>
            </a:r>
            <a:r>
              <a:rPr lang="en-US" sz="2400" dirty="0" err="1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eos</a:t>
            </a: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&gt;, &lt;line&gt;, &lt;stanza&gt;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Vocabulary built from training set only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Rare words removed using minimum frequency threshold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endParaRPr lang="en-US" sz="2400" dirty="0"/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endParaRPr lang="en-US" sz="2400" dirty="0"/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endParaRPr lang="en-US" sz="2400" dirty="0"/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endParaRPr lang="en-US" sz="2400" dirty="0"/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endParaRPr lang="en-US" sz="24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968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Dataset Splitting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3790" y="1776046"/>
            <a:ext cx="3744733" cy="282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Dataset split into:</a:t>
            </a:r>
            <a:endParaRPr lang="hr-HR" sz="2800" b="1" dirty="0">
              <a:solidFill>
                <a:srgbClr val="231971"/>
              </a:solidFill>
              <a:latin typeface="Outfit Extra Bold" pitchFamily="34" charset="0"/>
              <a:ea typeface="Outfit Extra Bold" pitchFamily="34" charset="-122"/>
              <a:cs typeface="Outfit Extra Bold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Training set: 80%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Validation set: 10%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Test set: 10%</a:t>
            </a: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 marL="0" indent="0" algn="l">
              <a:lnSpc>
                <a:spcPct val="150000"/>
              </a:lnSpc>
              <a:buNone/>
            </a:pP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918747" y="1776046"/>
            <a:ext cx="6917863" cy="3383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Sliding window approach:</a:t>
            </a:r>
            <a:endParaRPr lang="hr-HR" sz="2800" b="1" dirty="0">
              <a:solidFill>
                <a:srgbClr val="231971"/>
              </a:solidFill>
              <a:latin typeface="Outfit Extra Bold" pitchFamily="34" charset="0"/>
              <a:ea typeface="Outfit Extra Bold" pitchFamily="34" charset="-122"/>
              <a:cs typeface="Outfit Extra Bold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fixed-length input sequences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overlapping windows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Enables efficient sequence-to-sequence learning</a:t>
            </a: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 marL="0" indent="0" algn="l">
              <a:lnSpc>
                <a:spcPct val="1500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4126"/>
            <a:ext cx="11350264" cy="687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Model Architecture (Common Structure)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3790" y="204513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Both models share the same high-level structure: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63190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69912" y="2953108"/>
            <a:ext cx="23953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Embedding layer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793789" y="4114800"/>
            <a:ext cx="13042821" cy="2217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Output: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probability distribution over vocabulary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Training objective: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predict the next word in the sequence</a:t>
            </a: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 marL="0" indent="0" algn="l">
              <a:lnSpc>
                <a:spcPct val="150000"/>
              </a:lnSpc>
              <a:buNone/>
            </a:pPr>
            <a:endParaRPr lang="en-US" sz="2400" dirty="0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D823A0DC-7647-8194-2F05-B676974D6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1478" y="2676645"/>
            <a:ext cx="4347567" cy="907256"/>
          </a:xfrm>
          <a:prstGeom prst="rect">
            <a:avLst/>
          </a:prstGeom>
        </p:spPr>
      </p:pic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5BCA2301-6422-6FB5-FA48-362749A10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9045" y="2686755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64301" y="2940964"/>
            <a:ext cx="389393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Recurrent layer (LSTM or GRU)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9811868" y="2950172"/>
            <a:ext cx="37289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Fully connected output layer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5589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LSTM Model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3790" y="1926193"/>
            <a:ext cx="13042821" cy="5397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Long Short-Term Memory network</a:t>
            </a:r>
            <a:endParaRPr lang="hr-HR" sz="2400" dirty="0">
              <a:solidFill>
                <a:srgbClr val="1E1E1A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Key components: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input gate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forget gate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output gate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Advantages: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strong ability to model long-term dependencies</a:t>
            </a:r>
            <a:r>
              <a:rPr lang="hr-HR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	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Drawback: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larger number of parameters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higher computational cost</a:t>
            </a:r>
            <a:endParaRPr lang="en-US" sz="2400" dirty="0"/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565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GRU Model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45625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Gated Recurrent Unit network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07431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Simplified gating mechanism: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6923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update gate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13456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reset gate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7526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Advantages: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3706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fewer parameters than LSTM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81286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faster training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4309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Often achieves performance comparable to LSTM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173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Training Setup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862501"/>
            <a:ext cx="4196358" cy="2119789"/>
          </a:xfrm>
          <a:prstGeom prst="roundRect">
            <a:avLst>
              <a:gd name="adj" fmla="val 6902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4" name="Shape 2"/>
          <p:cNvSpPr/>
          <p:nvPr/>
        </p:nvSpPr>
        <p:spPr>
          <a:xfrm>
            <a:off x="793790" y="283202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5" name="Shape 3"/>
          <p:cNvSpPr/>
          <p:nvPr/>
        </p:nvSpPr>
        <p:spPr>
          <a:xfrm>
            <a:off x="2551688" y="252233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6" name="Text 4"/>
          <p:cNvSpPr/>
          <p:nvPr/>
        </p:nvSpPr>
        <p:spPr>
          <a:xfrm>
            <a:off x="2755761" y="269247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4294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Loss function: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919895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Cross-Entropy Loss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51084" y="4362093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padding tokens ignored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2862501"/>
            <a:ext cx="4196358" cy="2119789"/>
          </a:xfrm>
          <a:prstGeom prst="roundRect">
            <a:avLst>
              <a:gd name="adj" fmla="val 6902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1" name="Shape 9"/>
          <p:cNvSpPr/>
          <p:nvPr/>
        </p:nvSpPr>
        <p:spPr>
          <a:xfrm>
            <a:off x="5216962" y="283202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2" name="Shape 10"/>
          <p:cNvSpPr/>
          <p:nvPr/>
        </p:nvSpPr>
        <p:spPr>
          <a:xfrm>
            <a:off x="6974860" y="252233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3" name="Text 11"/>
          <p:cNvSpPr/>
          <p:nvPr/>
        </p:nvSpPr>
        <p:spPr>
          <a:xfrm>
            <a:off x="7178933" y="269247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74256" y="34294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Optimizer: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74256" y="3919895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AdamW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640133" y="2862501"/>
            <a:ext cx="4196358" cy="2119789"/>
          </a:xfrm>
          <a:prstGeom prst="roundRect">
            <a:avLst>
              <a:gd name="adj" fmla="val 6902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7" name="Shape 15"/>
          <p:cNvSpPr/>
          <p:nvPr/>
        </p:nvSpPr>
        <p:spPr>
          <a:xfrm>
            <a:off x="9640133" y="2832021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8" name="Shape 16"/>
          <p:cNvSpPr/>
          <p:nvPr/>
        </p:nvSpPr>
        <p:spPr>
          <a:xfrm>
            <a:off x="11398032" y="252233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9" name="Text 17"/>
          <p:cNvSpPr/>
          <p:nvPr/>
        </p:nvSpPr>
        <p:spPr>
          <a:xfrm>
            <a:off x="11602105" y="2692479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897427" y="3429476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Gradient clipping applied to improve stability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93790" y="5549265"/>
            <a:ext cx="6407944" cy="1178600"/>
          </a:xfrm>
          <a:prstGeom prst="roundRect">
            <a:avLst>
              <a:gd name="adj" fmla="val 12413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2" name="Shape 20"/>
          <p:cNvSpPr/>
          <p:nvPr/>
        </p:nvSpPr>
        <p:spPr>
          <a:xfrm>
            <a:off x="793790" y="5518785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3" name="Shape 21"/>
          <p:cNvSpPr/>
          <p:nvPr/>
        </p:nvSpPr>
        <p:spPr>
          <a:xfrm>
            <a:off x="3657540" y="520910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4" name="Text 22"/>
          <p:cNvSpPr/>
          <p:nvPr/>
        </p:nvSpPr>
        <p:spPr>
          <a:xfrm>
            <a:off x="3861614" y="537924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51084" y="6116241"/>
            <a:ext cx="51833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Training performed for multiple epochs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428548" y="5549265"/>
            <a:ext cx="6407944" cy="1178600"/>
          </a:xfrm>
          <a:prstGeom prst="roundRect">
            <a:avLst>
              <a:gd name="adj" fmla="val 12413"/>
            </a:avLst>
          </a:prstGeom>
          <a:solidFill>
            <a:srgbClr val="FAFAFA">
              <a:alpha val="95000"/>
            </a:srgbClr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7" name="Shape 25"/>
          <p:cNvSpPr/>
          <p:nvPr/>
        </p:nvSpPr>
        <p:spPr>
          <a:xfrm>
            <a:off x="7428548" y="5518785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8" name="Shape 26"/>
          <p:cNvSpPr/>
          <p:nvPr/>
        </p:nvSpPr>
        <p:spPr>
          <a:xfrm>
            <a:off x="10292298" y="520910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5E4CE6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9" name="Text 27"/>
          <p:cNvSpPr/>
          <p:nvPr/>
        </p:nvSpPr>
        <p:spPr>
          <a:xfrm>
            <a:off x="10496371" y="537924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5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7685842" y="6116241"/>
            <a:ext cx="475928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Checkpoints saved after each epoch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8F4A5-55F3-1793-F809-513BDF26C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336EE1-D8F4-E488-51FC-9FC590895153}"/>
              </a:ext>
            </a:extLst>
          </p:cNvPr>
          <p:cNvSpPr/>
          <p:nvPr/>
        </p:nvSpPr>
        <p:spPr>
          <a:xfrm>
            <a:off x="793790" y="139373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GRU Model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858856-1C25-FA16-7F89-710202D4E74B}"/>
              </a:ext>
            </a:extLst>
          </p:cNvPr>
          <p:cNvSpPr/>
          <p:nvPr/>
        </p:nvSpPr>
        <p:spPr>
          <a:xfrm>
            <a:off x="793790" y="2456259"/>
            <a:ext cx="13042821" cy="4612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Gated Recurrent Unit network</a:t>
            </a:r>
            <a:endParaRPr lang="hr-HR" sz="2400" dirty="0">
              <a:solidFill>
                <a:srgbClr val="1E1E1A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Simplified gating mechanism: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update gate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reset gate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Advantages: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fewer parameters than LSTM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faster training</a:t>
            </a:r>
            <a:endParaRPr lang="hr-HR" sz="2400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Often achieves performance comparable to LSTM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73333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41250-1770-6BAA-A80E-EE6C781DB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C19A97E-23AC-199B-59E9-462A28391F8A}"/>
              </a:ext>
            </a:extLst>
          </p:cNvPr>
          <p:cNvSpPr/>
          <p:nvPr/>
        </p:nvSpPr>
        <p:spPr>
          <a:xfrm>
            <a:off x="793790" y="143565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Evaluation Metrics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040FFC-D78E-C751-1198-63626AB5DAD0}"/>
              </a:ext>
            </a:extLst>
          </p:cNvPr>
          <p:cNvSpPr/>
          <p:nvPr/>
        </p:nvSpPr>
        <p:spPr>
          <a:xfrm>
            <a:off x="793790" y="2456259"/>
            <a:ext cx="13042821" cy="4612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Primary evaluation metric: Perplexity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exponential of average cross-entropy loss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lower perplexity </a:t>
            </a:r>
            <a:r>
              <a:rPr lang="hr-HR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=</a:t>
            </a: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better language modeling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intuitive measure of model uncertainty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1E1E1A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0043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5BEF4-8483-44B1-DF2F-92FF6FE39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48AB2BE-9BCA-7218-D719-D24881E4B177}"/>
              </a:ext>
            </a:extLst>
          </p:cNvPr>
          <p:cNvSpPr/>
          <p:nvPr/>
        </p:nvSpPr>
        <p:spPr>
          <a:xfrm>
            <a:off x="793790" y="143565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Hyperparameter Sensitivity Analysis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63A66D4-2EFA-118B-2069-805521D5466A}"/>
              </a:ext>
            </a:extLst>
          </p:cNvPr>
          <p:cNvSpPr/>
          <p:nvPr/>
        </p:nvSpPr>
        <p:spPr>
          <a:xfrm>
            <a:off x="793790" y="2456259"/>
            <a:ext cx="13042821" cy="4612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Tested hyperparameters</a:t>
            </a:r>
            <a:r>
              <a:rPr lang="hr-HR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learning rate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hidden layer dimension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Performed on reduced dataset subset for efficiency</a:t>
            </a:r>
            <a:endParaRPr lang="hr-HR" sz="2400" dirty="0">
              <a:solidFill>
                <a:srgbClr val="1E1E1A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Each configuration trained for a small number of epochs</a:t>
            </a:r>
            <a:endParaRPr lang="hr-HR" sz="2400" dirty="0">
              <a:solidFill>
                <a:srgbClr val="1E1E1A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Both LSTM and GRU evaluated under identical conditions</a:t>
            </a:r>
          </a:p>
        </p:txBody>
      </p:sp>
    </p:spTree>
    <p:extLst>
      <p:ext uri="{BB962C8B-B14F-4D97-AF65-F5344CB8AC3E}">
        <p14:creationId xmlns:p14="http://schemas.microsoft.com/office/powerpoint/2010/main" val="2821812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D44B7-9CFD-26C3-5642-92F775756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6471AF-A1C9-DAAC-0DD1-AADC0F5F5598}"/>
              </a:ext>
            </a:extLst>
          </p:cNvPr>
          <p:cNvSpPr/>
          <p:nvPr/>
        </p:nvSpPr>
        <p:spPr>
          <a:xfrm>
            <a:off x="793790" y="1435656"/>
            <a:ext cx="537070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Experimental Results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FC9352-DED6-75BA-F542-1286247F4267}"/>
              </a:ext>
            </a:extLst>
          </p:cNvPr>
          <p:cNvSpPr/>
          <p:nvPr/>
        </p:nvSpPr>
        <p:spPr>
          <a:xfrm>
            <a:off x="793790" y="2456259"/>
            <a:ext cx="13042821" cy="4612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Increasing hidden dimension generally improves performance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Very high learning rates lead to unstable training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GRU achieved: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similar validation loss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similar perplexity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shorter training time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Confirms GRU as an efficient alternative to LSTM</a:t>
            </a:r>
          </a:p>
        </p:txBody>
      </p:sp>
    </p:spTree>
    <p:extLst>
      <p:ext uri="{BB962C8B-B14F-4D97-AF65-F5344CB8AC3E}">
        <p14:creationId xmlns:p14="http://schemas.microsoft.com/office/powerpoint/2010/main" val="1508069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400CD-AA1A-8841-5225-B31BACEA9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526F35-2305-5232-3368-DAD851A15B03}"/>
              </a:ext>
            </a:extLst>
          </p:cNvPr>
          <p:cNvSpPr/>
          <p:nvPr/>
        </p:nvSpPr>
        <p:spPr>
          <a:xfrm>
            <a:off x="793790" y="1435656"/>
            <a:ext cx="537070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Generated Lyrics Analysis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740157-67DD-6FEE-FC9B-68C510B81E32}"/>
              </a:ext>
            </a:extLst>
          </p:cNvPr>
          <p:cNvSpPr/>
          <p:nvPr/>
        </p:nvSpPr>
        <p:spPr>
          <a:xfrm>
            <a:off x="793790" y="2456259"/>
            <a:ext cx="13042821" cy="4612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Generated lyrics exhibit: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syntactic correctness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repetitive song-like structure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learned line and stanza breaks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Semantic coherence limited but acceptable for RNN-based models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Results align with expectations for word-level RNN generators</a:t>
            </a:r>
          </a:p>
        </p:txBody>
      </p:sp>
    </p:spTree>
    <p:extLst>
      <p:ext uri="{BB962C8B-B14F-4D97-AF65-F5344CB8AC3E}">
        <p14:creationId xmlns:p14="http://schemas.microsoft.com/office/powerpoint/2010/main" val="55676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67F7D-156B-A6CA-9F28-20CCD8FB4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75F5E04-39FF-2A0E-2228-31A2DF7064D8}"/>
              </a:ext>
            </a:extLst>
          </p:cNvPr>
          <p:cNvSpPr/>
          <p:nvPr/>
        </p:nvSpPr>
        <p:spPr>
          <a:xfrm>
            <a:off x="793790" y="1435656"/>
            <a:ext cx="537070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Discussion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C1208F-2079-DAE1-A029-355521AF4C76}"/>
              </a:ext>
            </a:extLst>
          </p:cNvPr>
          <p:cNvSpPr/>
          <p:nvPr/>
        </p:nvSpPr>
        <p:spPr>
          <a:xfrm>
            <a:off x="793790" y="2456259"/>
            <a:ext cx="13042821" cy="4612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Word-level modeling improves readability over character-level models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Structural tokens significantly improve formatting quality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Model performance strongly depends on preprocessing quality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1E1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GRU provides favorable trade-off between complexity 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69573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8178F-4595-E485-5891-1DDB9DD1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latin typeface="+mj-lt"/>
                <a:ea typeface="+mj-ea"/>
                <a:cs typeface="+mj-cs"/>
              </a:rPr>
              <a:t>Thank you for your attention!</a:t>
            </a:r>
          </a:p>
        </p:txBody>
      </p:sp>
      <p:pic>
        <p:nvPicPr>
          <p:cNvPr id="6" name="Picture 5" descr="Wood human figure">
            <a:extLst>
              <a:ext uri="{FF2B5EF4-FFF2-40B4-BE49-F238E27FC236}">
                <a16:creationId xmlns:a16="http://schemas.microsoft.com/office/drawing/2014/main" id="{5ED9749D-3431-1C8A-8384-196D61BA0B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465"/>
          <a:stretch>
            <a:fillRect/>
          </a:stretch>
        </p:blipFill>
        <p:spPr>
          <a:xfrm>
            <a:off x="6219826" y="1184911"/>
            <a:ext cx="7406640" cy="584835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66D85C-089F-9393-0E1C-58B726A5A488}"/>
              </a:ext>
            </a:extLst>
          </p:cNvPr>
          <p:cNvSpPr txBox="1"/>
          <p:nvPr/>
        </p:nvSpPr>
        <p:spPr>
          <a:xfrm>
            <a:off x="1007746" y="2468880"/>
            <a:ext cx="4718684" cy="457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1097280">
              <a:lnSpc>
                <a:spcPct val="90000"/>
              </a:lnSpc>
              <a:spcBef>
                <a:spcPts val="1200"/>
              </a:spcBef>
            </a:pPr>
            <a:r>
              <a:rPr lang="en-US" sz="3200" kern="1200" dirty="0">
                <a:latin typeface="+mn-lt"/>
                <a:ea typeface="+mn-ea"/>
                <a:cs typeface="+mn-cs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179580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309</TotalTime>
  <Words>641</Words>
  <Application>Microsoft Office PowerPoint</Application>
  <PresentationFormat>Custom</PresentationFormat>
  <Paragraphs>192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Outfit Extra Bold</vt:lpstr>
      <vt:lpstr>Calibri</vt:lpstr>
      <vt:lpstr>Arimo</vt:lpstr>
      <vt:lpstr>Arial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Kristian Lovey</cp:lastModifiedBy>
  <cp:revision>3</cp:revision>
  <dcterms:created xsi:type="dcterms:W3CDTF">2026-01-17T17:09:23Z</dcterms:created>
  <dcterms:modified xsi:type="dcterms:W3CDTF">2026-01-17T22:19:55Z</dcterms:modified>
</cp:coreProperties>
</file>